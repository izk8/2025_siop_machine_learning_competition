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5" r:id="rId7"/>
    <p:sldId id="260" r:id="rId8"/>
    <p:sldId id="266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6577B-A432-334B-9443-F432CF51741A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F81FD-EED8-6242-A6DE-61C6C43BE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5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A547-D9FC-9DAD-A0A7-C331F7A12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B5EEC-AFC8-C02E-2A79-6FFD1DE94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8BD26-DF59-B6BF-E376-E88D3576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8D2C4-0077-0C6B-B724-94A171FE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5296B-94C8-FA31-031F-356AD538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3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9EE2-AA6C-7A92-4931-E589CD1E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CF82D-BC23-796D-0544-C2701F8F4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2E37A-60E2-5105-6C76-0BCA4BD3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97F36-742E-FFF3-0DC1-CD082C9D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CBE7-9712-EF8D-F464-F2F92E2F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7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7466-7F45-05BB-7718-1EC5C952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2C725-49A1-C933-91A9-41FACE8DE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FF754-9F40-A5C2-6DAE-70718115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81B5-4578-0183-E43E-5110F475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2B89E-44A9-9AAE-F7A8-224F0015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1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2102-BF55-5C19-E4C2-F386C009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0A3B-3C7F-954C-9A52-78193C49D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647B-404C-D696-943C-D3A926FF0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62D7-3AA6-1654-8329-5208C08CC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A2B83-4B4E-3383-55FC-21D9F9F4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F1A07-EE36-431E-1190-7326711A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1B4F-003F-3D4E-7553-3C42D0B9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BB82F-F64D-A390-1FDB-429D5C1A0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9E905-FDCD-EE28-DD49-4B3A574B5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F4F53-2A88-8B20-FB04-B717467A1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50ADD-DAE2-BCB3-CEA5-4880BF72C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1FAE4-AB27-87F3-7BD2-E860898A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F47B8-8AB6-ACF9-36AD-28A04E08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0240-C162-7ED7-B261-A67D1741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9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1033-32F1-CF14-332E-F2471D7F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E9B74-19FE-7830-318B-8ABDF904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CF03B-E577-9560-5CA7-CE2721B6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5387F-C28D-DB05-4C16-33BFEB4C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7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263F3-F491-72A3-FFE6-6FD9EBF2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CB07A9-2CCF-3F53-BB86-DC3AB6EC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4A40B-4732-95C8-58FF-DEDB450A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4143-A2D1-3F10-0711-CE31BF0B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7C57-B41B-D775-F3AD-93FFD87D3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2D9FC-0000-FE1D-085C-BAA62597C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6E45F-D120-287C-12C6-72EB999F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34E3-3EC1-7426-78D8-7F7C097B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8A0E9-DA58-6C0B-A57B-A506288D6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D032-0878-4C0B-90C9-B085FB7DB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8DF5F-5130-EB60-428B-DDA10F30E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DC3C1-B7A8-B138-E4A9-11F4CF0A9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2CC9C-1A6D-24E5-F15D-7105601F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7D292-DBE3-FB03-5B26-3A3A4265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90D82-119D-769E-6F0E-C07594F5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4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C893-CAE9-36E7-3882-EA37B9ED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B51A0-C52C-4735-36BA-C17F8414F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FE02-9D81-EB9D-5852-FAB6A301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6841-DD39-B705-4C96-1E515BDF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3B382-B4C6-E60B-3F49-CA6B10CF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9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B312D3-6E2F-9ECF-9886-8CFD8AA77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69D2A-EC41-82E8-9853-6551144D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C0FE1-1CE1-AA16-3415-DC9A7730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64D5-3D54-BFAD-6743-64A83CB9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15B89-EA71-E6BC-2590-348CEFD6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5B2712-6E49-987C-71E2-7777F927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A2C2-C243-58A1-18FB-BA45E2620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44BEA-313B-0183-2246-13201A159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2A267-862F-DC42-9DC0-3D6ECA20A076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DFDD7-4C0F-213C-97F7-15212479E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EE076-A5CB-DD7C-59D2-2AD688C61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8790C-2EEF-DC46-B49A-8698E1646C8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E62731-221F-7A71-A536-4D3AC42AE4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943" y="6228424"/>
            <a:ext cx="1579165" cy="52890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0D1705-ABDD-736A-1FB9-112B1131262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03558" y="5770293"/>
            <a:ext cx="1071751" cy="9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3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Helvetica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cs.aws.amazon.com/bedrock/latest/userguide/conversation-inference-example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.langchain.com/docs/versions/migrating_chains/multi_prompt_chai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F694-36A1-6976-FCFB-CD4951B07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SIOP ML Competition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521F7-8541-6014-669C-E0304673E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7675"/>
            <a:ext cx="9144000" cy="1655762"/>
          </a:xfrm>
        </p:spPr>
        <p:txBody>
          <a:bodyPr/>
          <a:lstStyle/>
          <a:p>
            <a:r>
              <a:rPr lang="en-US" dirty="0"/>
              <a:t>Team </a:t>
            </a:r>
            <a:r>
              <a:rPr lang="en-US" dirty="0" err="1"/>
              <a:t>ReLulu</a:t>
            </a:r>
            <a:endParaRPr lang="en-US" dirty="0"/>
          </a:p>
          <a:p>
            <a:r>
              <a:rPr lang="en-US" dirty="0" err="1"/>
              <a:t>Yizhen</a:t>
            </a:r>
            <a:r>
              <a:rPr lang="en-US" dirty="0"/>
              <a:t> Egyn Zhu (Amazon)</a:t>
            </a:r>
          </a:p>
          <a:p>
            <a:r>
              <a:rPr lang="en-US" dirty="0"/>
              <a:t>Bao Ho (Bowling Green State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71330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614E-05B9-1E0C-8EA4-5A641C15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E8FF-552A-BD63-2116-E53FE8454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71697"/>
            <a:ext cx="4217276" cy="140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Yizhen</a:t>
            </a:r>
            <a:r>
              <a:rPr lang="en-US" sz="2000" dirty="0"/>
              <a:t> Egyn Zhu</a:t>
            </a:r>
          </a:p>
          <a:p>
            <a:pPr marL="0" indent="0">
              <a:buNone/>
            </a:pPr>
            <a:r>
              <a:rPr lang="en-US" sz="2000" dirty="0"/>
              <a:t>Machine Learning Scientist</a:t>
            </a:r>
          </a:p>
          <a:p>
            <a:pPr marL="0" indent="0">
              <a:buNone/>
            </a:pPr>
            <a:r>
              <a:rPr lang="en-US" sz="2000" dirty="0"/>
              <a:t>Amazon Global Hiring Science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02B009-3AF2-2B61-854F-BA0B498E32D3}"/>
              </a:ext>
            </a:extLst>
          </p:cNvPr>
          <p:cNvSpPr txBox="1">
            <a:spLocks/>
          </p:cNvSpPr>
          <p:nvPr/>
        </p:nvSpPr>
        <p:spPr>
          <a:xfrm>
            <a:off x="6687207" y="4771697"/>
            <a:ext cx="4217276" cy="140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Bao Ho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PhD Candidate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Bowling Green State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626A0-3165-40A3-30E4-8DD79764C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62" y="1502980"/>
            <a:ext cx="3069021" cy="3069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DF88B0-30C2-E8B6-0CBC-4B4F11540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932" y="1502980"/>
            <a:ext cx="3069021" cy="30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94A8-7605-7F68-62A4-25A6C739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Ability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25DD0-E822-F920-56A1-DB000068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789" y="1562867"/>
            <a:ext cx="11616556" cy="3776388"/>
          </a:xfrm>
        </p:spPr>
        <p:txBody>
          <a:bodyPr>
            <a:normAutofit/>
          </a:bodyPr>
          <a:lstStyle/>
          <a:p>
            <a:r>
              <a:rPr lang="en-US" dirty="0"/>
              <a:t>Function calling on external website to get all possible English phrases (common phrase &amp; proper noun)</a:t>
            </a:r>
          </a:p>
          <a:p>
            <a:r>
              <a:rPr lang="en-US" dirty="0"/>
              <a:t>Pass all possible phrases to LLM</a:t>
            </a:r>
          </a:p>
          <a:p>
            <a:r>
              <a:rPr lang="en-US" dirty="0"/>
              <a:t>Ask LLM (Claude 3.5 Sonnet v2) to select the most common phrase and provide a rationale</a:t>
            </a:r>
          </a:p>
          <a:p>
            <a:pPr lvl="1"/>
            <a:r>
              <a:rPr lang="en-US" dirty="0"/>
              <a:t>Pass the list of answers to LLM and ask to identify uncommon phrases</a:t>
            </a:r>
          </a:p>
          <a:p>
            <a:pPr lvl="1"/>
            <a:r>
              <a:rPr lang="en-US" dirty="0"/>
              <a:t>For items that did not have an answer or identified as uncommon, rerun the process with full dictionary</a:t>
            </a:r>
          </a:p>
        </p:txBody>
      </p:sp>
    </p:spTree>
    <p:extLst>
      <p:ext uri="{BB962C8B-B14F-4D97-AF65-F5344CB8AC3E}">
        <p14:creationId xmlns:p14="http://schemas.microsoft.com/office/powerpoint/2010/main" val="814277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nagram">
            <a:hlinkClick r:id="" action="ppaction://media"/>
            <a:extLst>
              <a:ext uri="{FF2B5EF4-FFF2-40B4-BE49-F238E27FC236}">
                <a16:creationId xmlns:a16="http://schemas.microsoft.com/office/drawing/2014/main" id="{A43DE150-0521-5BA4-656C-D618DDD63A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0885" y="347141"/>
            <a:ext cx="10010230" cy="53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9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09D9-2A03-08A3-7528-7222630A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Ability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EE90-E3CA-1A6D-C395-3D909481F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 questions into sequence and steps</a:t>
            </a:r>
          </a:p>
          <a:p>
            <a:r>
              <a:rPr lang="en-US" dirty="0"/>
              <a:t>Only 12 distinctive steps</a:t>
            </a:r>
          </a:p>
          <a:p>
            <a:pPr lvl="1"/>
            <a:r>
              <a:rPr lang="en-US" dirty="0"/>
              <a:t>Create 12 functions to process</a:t>
            </a:r>
          </a:p>
          <a:p>
            <a:pPr lvl="1"/>
            <a:r>
              <a:rPr lang="en-US" dirty="0"/>
              <a:t>Map text to function</a:t>
            </a:r>
          </a:p>
          <a:p>
            <a:r>
              <a:rPr lang="en-US" dirty="0"/>
              <a:t>Pass sequence through corresponding functions</a:t>
            </a:r>
          </a:p>
          <a:p>
            <a:r>
              <a:rPr lang="en-US" dirty="0"/>
              <a:t>100% Accuracy </a:t>
            </a:r>
            <a:r>
              <a:rPr lang="en-US" b="0" i="0" dirty="0">
                <a:solidFill>
                  <a:srgbClr val="ECECEC"/>
                </a:solidFill>
                <a:effectLst/>
                <a:latin typeface="Google Sans"/>
              </a:rPr>
              <a:t>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2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1870-0B10-1099-32B8-0A539CEF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Ability B (GenAI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D1E6-BBEC-0ACA-C679-100C9D5D0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09441" cy="4351338"/>
          </a:xfrm>
        </p:spPr>
        <p:txBody>
          <a:bodyPr/>
          <a:lstStyle/>
          <a:p>
            <a:r>
              <a:rPr lang="en-US" dirty="0"/>
              <a:t>Parse questions by step</a:t>
            </a:r>
          </a:p>
          <a:p>
            <a:r>
              <a:rPr lang="en-US" dirty="0"/>
              <a:t>Call LLM API in a chatbot fashion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 err="1">
                <a:hlinkClick r:id="rId2"/>
              </a:rPr>
              <a:t>BedrockConverse</a:t>
            </a:r>
            <a:endParaRPr lang="en-US" dirty="0"/>
          </a:p>
          <a:p>
            <a:pPr lvl="1"/>
            <a:r>
              <a:rPr lang="en-US" dirty="0"/>
              <a:t>Pass a list of user + AI messages</a:t>
            </a:r>
          </a:p>
          <a:p>
            <a:pPr lvl="1"/>
            <a:r>
              <a:rPr lang="en-US" dirty="0"/>
              <a:t>Pass messages from previous steps</a:t>
            </a:r>
          </a:p>
        </p:txBody>
      </p:sp>
      <p:pic>
        <p:nvPicPr>
          <p:cNvPr id="5" name="Graphic 4" descr="Robot with solid fill">
            <a:extLst>
              <a:ext uri="{FF2B5EF4-FFF2-40B4-BE49-F238E27FC236}">
                <a16:creationId xmlns:a16="http://schemas.microsoft.com/office/drawing/2014/main" id="{81C7B9BC-547A-B60B-356D-01E64784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9060" y="3228915"/>
            <a:ext cx="914400" cy="9144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5476B8-B330-C9DE-2AF8-3BE9A36DB799}"/>
              </a:ext>
            </a:extLst>
          </p:cNvPr>
          <p:cNvSpPr/>
          <p:nvPr/>
        </p:nvSpPr>
        <p:spPr>
          <a:xfrm>
            <a:off x="6915807" y="2017987"/>
            <a:ext cx="1429406" cy="5859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Step 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DCB08C-79EE-8CD9-8CCF-A36B7D0C4CCA}"/>
              </a:ext>
            </a:extLst>
          </p:cNvPr>
          <p:cNvSpPr/>
          <p:nvPr/>
        </p:nvSpPr>
        <p:spPr>
          <a:xfrm>
            <a:off x="6915807" y="2862756"/>
            <a:ext cx="1429406" cy="5859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Step 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5DA538-B7D0-CC06-6930-9D3751B0E805}"/>
              </a:ext>
            </a:extLst>
          </p:cNvPr>
          <p:cNvSpPr/>
          <p:nvPr/>
        </p:nvSpPr>
        <p:spPr>
          <a:xfrm>
            <a:off x="6915807" y="3728026"/>
            <a:ext cx="1429406" cy="5859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Step 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CF4E27-6116-A82D-F429-CFA844E2C222}"/>
              </a:ext>
            </a:extLst>
          </p:cNvPr>
          <p:cNvSpPr/>
          <p:nvPr/>
        </p:nvSpPr>
        <p:spPr>
          <a:xfrm>
            <a:off x="6915807" y="4591982"/>
            <a:ext cx="1429406" cy="5859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Step 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070CD4-D589-5053-CA48-37D7FAF7E752}"/>
              </a:ext>
            </a:extLst>
          </p:cNvPr>
          <p:cNvCxnSpPr>
            <a:cxnSpLocks/>
          </p:cNvCxnSpPr>
          <p:nvPr/>
        </p:nvCxnSpPr>
        <p:spPr>
          <a:xfrm>
            <a:off x="8355723" y="2292467"/>
            <a:ext cx="1686911" cy="13026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6011E3-86B5-A44E-4941-D262DE86E3CB}"/>
              </a:ext>
            </a:extLst>
          </p:cNvPr>
          <p:cNvCxnSpPr>
            <a:cxnSpLocks/>
          </p:cNvCxnSpPr>
          <p:nvPr/>
        </p:nvCxnSpPr>
        <p:spPr>
          <a:xfrm flipV="1">
            <a:off x="8326820" y="3777156"/>
            <a:ext cx="1715814" cy="222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AEF205-EF95-48A4-AD66-929D8FEC55B7}"/>
              </a:ext>
            </a:extLst>
          </p:cNvPr>
          <p:cNvCxnSpPr>
            <a:cxnSpLocks/>
          </p:cNvCxnSpPr>
          <p:nvPr/>
        </p:nvCxnSpPr>
        <p:spPr>
          <a:xfrm>
            <a:off x="8360978" y="3155732"/>
            <a:ext cx="1681656" cy="5722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3D33B6-FCFB-F13E-26E4-F66218787A2A}"/>
              </a:ext>
            </a:extLst>
          </p:cNvPr>
          <p:cNvCxnSpPr>
            <a:cxnSpLocks/>
          </p:cNvCxnSpPr>
          <p:nvPr/>
        </p:nvCxnSpPr>
        <p:spPr>
          <a:xfrm flipV="1">
            <a:off x="8345212" y="3880426"/>
            <a:ext cx="1697422" cy="1012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2DFE049-50BF-53BB-F655-673D8ED4AF8A}"/>
              </a:ext>
            </a:extLst>
          </p:cNvPr>
          <p:cNvSpPr/>
          <p:nvPr/>
        </p:nvSpPr>
        <p:spPr>
          <a:xfrm>
            <a:off x="9722069" y="4892581"/>
            <a:ext cx="1161391" cy="6358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Answer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B12574-5001-E232-2D9D-B147CB5A1218}"/>
              </a:ext>
            </a:extLst>
          </p:cNvPr>
          <p:cNvCxnSpPr>
            <a:endCxn id="23" idx="0"/>
          </p:cNvCxnSpPr>
          <p:nvPr/>
        </p:nvCxnSpPr>
        <p:spPr>
          <a:xfrm flipH="1">
            <a:off x="10302765" y="4182079"/>
            <a:ext cx="123497" cy="710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495479E-2777-C362-4CC0-C582994357EA}"/>
              </a:ext>
            </a:extLst>
          </p:cNvPr>
          <p:cNvSpPr/>
          <p:nvPr/>
        </p:nvSpPr>
        <p:spPr>
          <a:xfrm>
            <a:off x="10247583" y="2007477"/>
            <a:ext cx="1778876" cy="7926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step outputs disregarded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3804FF4-9962-581E-E2E8-785B39C6A823}"/>
              </a:ext>
            </a:extLst>
          </p:cNvPr>
          <p:cNvCxnSpPr>
            <a:cxnSpLocks/>
          </p:cNvCxnSpPr>
          <p:nvPr/>
        </p:nvCxnSpPr>
        <p:spPr>
          <a:xfrm flipV="1">
            <a:off x="10657490" y="2862756"/>
            <a:ext cx="441434" cy="585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618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B06C-E229-F311-B19A-6537C9C9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Ability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9AB3A-DE60-64CC-261B-1C3E0B95B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Heuristically find the type of sequence</a:t>
            </a:r>
          </a:p>
          <a:p>
            <a:pPr lvl="1"/>
            <a:r>
              <a:rPr lang="en-US" dirty="0"/>
              <a:t>Arithmetic</a:t>
            </a:r>
          </a:p>
          <a:p>
            <a:pPr lvl="1"/>
            <a:r>
              <a:rPr lang="en-US" dirty="0"/>
              <a:t>Alternating Arithmetic</a:t>
            </a:r>
          </a:p>
          <a:p>
            <a:pPr lvl="1"/>
            <a:r>
              <a:rPr lang="en-US" dirty="0"/>
              <a:t>Geometric</a:t>
            </a:r>
          </a:p>
          <a:p>
            <a:pPr lvl="1"/>
            <a:r>
              <a:rPr lang="en-US" dirty="0"/>
              <a:t>Second-order Geometric</a:t>
            </a:r>
          </a:p>
          <a:p>
            <a:pPr lvl="1"/>
            <a:r>
              <a:rPr lang="en-US" dirty="0"/>
              <a:t>Fibonacci</a:t>
            </a:r>
          </a:p>
          <a:p>
            <a:r>
              <a:rPr lang="en-US" dirty="0"/>
              <a:t>Calculate next number based on type </a:t>
            </a:r>
            <a:r>
              <a:rPr lang="en-US" b="0" i="0" dirty="0">
                <a:solidFill>
                  <a:srgbClr val="ECECEC"/>
                </a:solidFill>
                <a:effectLst/>
                <a:latin typeface="Google Sans"/>
              </a:rPr>
              <a:t>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7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2E05-B9A6-1F2D-77C8-A2448650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Ability C (GenAI Version)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B58A-AA9F-2315-B8B5-EED1DFABB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383924" cy="4351338"/>
          </a:xfrm>
        </p:spPr>
        <p:txBody>
          <a:bodyPr/>
          <a:lstStyle/>
          <a:p>
            <a:r>
              <a:rPr lang="en-US" dirty="0"/>
              <a:t>Use a routing prompt to categorize the type of sequence</a:t>
            </a:r>
          </a:p>
          <a:p>
            <a:r>
              <a:rPr lang="en-US" dirty="0"/>
              <a:t>Send sequence to corresponding instruction prompt for each sequence type</a:t>
            </a:r>
          </a:p>
          <a:p>
            <a:r>
              <a:rPr lang="en-US" dirty="0"/>
              <a:t>Use </a:t>
            </a:r>
            <a:r>
              <a:rPr lang="en-US" dirty="0" err="1">
                <a:hlinkClick r:id="rId2"/>
              </a:rPr>
              <a:t>LangGraph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7C67015-1296-E798-3B7A-1E1F1C6BFD3A}"/>
              </a:ext>
            </a:extLst>
          </p:cNvPr>
          <p:cNvSpPr/>
          <p:nvPr/>
        </p:nvSpPr>
        <p:spPr>
          <a:xfrm>
            <a:off x="8119240" y="2924174"/>
            <a:ext cx="1681655" cy="7897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Routing Prompt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7B8D3F-E3EE-AADC-BF7C-EE6A00ABBFFD}"/>
              </a:ext>
            </a:extLst>
          </p:cNvPr>
          <p:cNvSpPr/>
          <p:nvPr/>
        </p:nvSpPr>
        <p:spPr>
          <a:xfrm>
            <a:off x="6096000" y="4022723"/>
            <a:ext cx="1681655" cy="78975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 Prompt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8212C4-C66F-7DB0-A1C6-283347A6D380}"/>
              </a:ext>
            </a:extLst>
          </p:cNvPr>
          <p:cNvSpPr/>
          <p:nvPr/>
        </p:nvSpPr>
        <p:spPr>
          <a:xfrm>
            <a:off x="8119241" y="4022723"/>
            <a:ext cx="1681655" cy="78975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 Prompt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F0B2D8-BBC1-007B-D496-2193E88D1DF1}"/>
              </a:ext>
            </a:extLst>
          </p:cNvPr>
          <p:cNvSpPr/>
          <p:nvPr/>
        </p:nvSpPr>
        <p:spPr>
          <a:xfrm>
            <a:off x="10142482" y="4022723"/>
            <a:ext cx="1681655" cy="7897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 Prompt …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1F26B3-1AE1-02CD-2F91-B4FD21CA1C65}"/>
              </a:ext>
            </a:extLst>
          </p:cNvPr>
          <p:cNvSpPr/>
          <p:nvPr/>
        </p:nvSpPr>
        <p:spPr>
          <a:xfrm>
            <a:off x="8119238" y="1825625"/>
            <a:ext cx="1681655" cy="7897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58373F9-A7AC-43AA-5A33-F682AF6E4E21}"/>
              </a:ext>
            </a:extLst>
          </p:cNvPr>
          <p:cNvSpPr/>
          <p:nvPr/>
        </p:nvSpPr>
        <p:spPr>
          <a:xfrm>
            <a:off x="8119238" y="5121272"/>
            <a:ext cx="1681655" cy="7897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523FD2C-23CF-668A-48F9-6D640AFE631A}"/>
              </a:ext>
            </a:extLst>
          </p:cNvPr>
          <p:cNvCxnSpPr>
            <a:stCxn id="8" idx="2"/>
            <a:endCxn id="4" idx="0"/>
          </p:cNvCxnSpPr>
          <p:nvPr/>
        </p:nvCxnSpPr>
        <p:spPr>
          <a:xfrm>
            <a:off x="8960066" y="2615378"/>
            <a:ext cx="2" cy="3087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398B6F-78CF-F9D3-1FC3-7039B9C61305}"/>
              </a:ext>
            </a:extLst>
          </p:cNvPr>
          <p:cNvCxnSpPr/>
          <p:nvPr/>
        </p:nvCxnSpPr>
        <p:spPr>
          <a:xfrm>
            <a:off x="8960065" y="3673037"/>
            <a:ext cx="2" cy="3087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3F8CE4-3935-4A1D-B79D-75134CD5B290}"/>
              </a:ext>
            </a:extLst>
          </p:cNvPr>
          <p:cNvCxnSpPr/>
          <p:nvPr/>
        </p:nvCxnSpPr>
        <p:spPr>
          <a:xfrm>
            <a:off x="8960065" y="4812476"/>
            <a:ext cx="2" cy="3087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5B3A77-C3CF-3895-DF18-EB3A00306E5B}"/>
              </a:ext>
            </a:extLst>
          </p:cNvPr>
          <p:cNvCxnSpPr>
            <a:cxnSpLocks/>
          </p:cNvCxnSpPr>
          <p:nvPr/>
        </p:nvCxnSpPr>
        <p:spPr>
          <a:xfrm>
            <a:off x="9259613" y="3709302"/>
            <a:ext cx="1723696" cy="2725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523F80-1F97-CD85-AEB0-A9D6BD3502BC}"/>
              </a:ext>
            </a:extLst>
          </p:cNvPr>
          <p:cNvCxnSpPr>
            <a:cxnSpLocks/>
          </p:cNvCxnSpPr>
          <p:nvPr/>
        </p:nvCxnSpPr>
        <p:spPr>
          <a:xfrm flipH="1">
            <a:off x="6936825" y="3709302"/>
            <a:ext cx="1723694" cy="2725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27AC4B-E703-F129-55CC-5D6C7CBDD66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936828" y="4812476"/>
            <a:ext cx="1907626" cy="2632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6CB49F-4E83-4604-B5DB-0725F363B62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9052031" y="4812476"/>
            <a:ext cx="1931279" cy="2632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65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F243-CE27-65A2-5CB1-B3AF999F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 Likert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52646-8FC7-E2E1-1356-465DB4129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Items are from NEO-P-R</a:t>
            </a:r>
          </a:p>
          <a:p>
            <a:r>
              <a:rPr lang="en-US" dirty="0"/>
              <a:t>For each job, ask LLM to rate whether each personality facets is required (Yes, No, Neither) for the job</a:t>
            </a:r>
          </a:p>
          <a:p>
            <a:r>
              <a:rPr lang="en-US" dirty="0"/>
              <a:t>Also ask LLM (Claude 3.5 Haiku) to provide rationale</a:t>
            </a:r>
          </a:p>
          <a:p>
            <a:r>
              <a:rPr lang="en-US" dirty="0"/>
              <a:t>Context</a:t>
            </a:r>
          </a:p>
          <a:p>
            <a:pPr lvl="1"/>
            <a:r>
              <a:rPr lang="en-US" dirty="0"/>
              <a:t>Job role, job advertisement</a:t>
            </a:r>
          </a:p>
          <a:p>
            <a:r>
              <a:rPr lang="en-US" dirty="0"/>
              <a:t>Convert to score</a:t>
            </a:r>
          </a:p>
          <a:p>
            <a:pPr lvl="1"/>
            <a:r>
              <a:rPr lang="en-US" dirty="0"/>
              <a:t>Yes = high facet score</a:t>
            </a:r>
          </a:p>
          <a:p>
            <a:pPr lvl="1"/>
            <a:r>
              <a:rPr lang="en-US" dirty="0"/>
              <a:t>No = low facet score</a:t>
            </a:r>
          </a:p>
          <a:p>
            <a:pPr lvl="1"/>
            <a:r>
              <a:rPr lang="en-US" dirty="0"/>
              <a:t>Neither =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BDF52-A0F8-0926-5C48-536F719A096F}"/>
              </a:ext>
            </a:extLst>
          </p:cNvPr>
          <p:cNvSpPr/>
          <p:nvPr/>
        </p:nvSpPr>
        <p:spPr>
          <a:xfrm>
            <a:off x="6716110" y="3668109"/>
            <a:ext cx="4099035" cy="24457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Forklift Operator</a:t>
            </a:r>
          </a:p>
          <a:p>
            <a:endParaRPr lang="en-US" b="1" dirty="0"/>
          </a:p>
          <a:p>
            <a:pPr algn="l" latinLnBrk="1"/>
            <a:r>
              <a:rPr lang="en-US" b="1" dirty="0">
                <a:latin typeface="system-ui"/>
              </a:rPr>
              <a:t>I</a:t>
            </a:r>
            <a:r>
              <a:rPr lang="en-US" b="1" i="0" dirty="0">
                <a:effectLst/>
                <a:latin typeface="system-ui"/>
              </a:rPr>
              <a:t>mportance</a:t>
            </a:r>
            <a:r>
              <a:rPr lang="en-US" dirty="0">
                <a:latin typeface="system-ui"/>
              </a:rPr>
              <a:t>: </a:t>
            </a:r>
            <a:r>
              <a:rPr lang="en-US" b="0" i="0" dirty="0">
                <a:effectLst/>
                <a:latin typeface="system-ui"/>
              </a:rPr>
              <a:t>YES</a:t>
            </a:r>
          </a:p>
          <a:p>
            <a:pPr algn="l" latinLnBrk="1"/>
            <a:r>
              <a:rPr lang="en-US" b="1" dirty="0">
                <a:latin typeface="system-ui"/>
              </a:rPr>
              <a:t>R</a:t>
            </a:r>
            <a:r>
              <a:rPr lang="en-US" b="1" i="0" dirty="0">
                <a:effectLst/>
                <a:latin typeface="system-ui"/>
              </a:rPr>
              <a:t>ationale</a:t>
            </a:r>
            <a:r>
              <a:rPr lang="en-US" dirty="0">
                <a:latin typeface="system-ui"/>
              </a:rPr>
              <a:t>: </a:t>
            </a:r>
            <a:r>
              <a:rPr lang="en-US" b="0" i="0" dirty="0">
                <a:effectLst/>
                <a:latin typeface="system-ui"/>
              </a:rPr>
              <a:t>High physical activity and energy are crucial for managing demanding warehouse tasks and operating heavy machinery.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025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D1AE-8601-8B3E-A917-45697B38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A227-14D1-1C85-52D7-09D6802CF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job, ask LLM to rate which statement is more preferred (A, B, Neither) for the job</a:t>
            </a:r>
          </a:p>
          <a:p>
            <a:r>
              <a:rPr lang="en-US" dirty="0"/>
              <a:t>Also ask LLM (Claude 3.5 Haiku) to provide rationale</a:t>
            </a:r>
          </a:p>
          <a:p>
            <a:r>
              <a:rPr lang="en-US" dirty="0"/>
              <a:t>Context</a:t>
            </a:r>
          </a:p>
          <a:p>
            <a:pPr lvl="1"/>
            <a:r>
              <a:rPr lang="en-US" dirty="0"/>
              <a:t>Job role, job advertisement</a:t>
            </a:r>
          </a:p>
          <a:p>
            <a:r>
              <a:rPr lang="en-US" dirty="0"/>
              <a:t>Convert to score</a:t>
            </a:r>
          </a:p>
          <a:p>
            <a:pPr lvl="1"/>
            <a:r>
              <a:rPr lang="en-US" dirty="0"/>
              <a:t>A or B = -2 or 2</a:t>
            </a:r>
          </a:p>
          <a:p>
            <a:pPr lvl="1"/>
            <a:r>
              <a:rPr lang="en-US" dirty="0"/>
              <a:t>Neither = 0</a:t>
            </a:r>
          </a:p>
          <a:p>
            <a:pPr lvl="1"/>
            <a:r>
              <a:rPr lang="en-US" dirty="0"/>
              <a:t>If both statements are from Neo-P-R, use Likert results to choose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9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22F4-8C70-A6EC-E6E8-D96D2FAA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Readiness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D451-B7F5-30D8-66A3-B49080F8C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O*NET technology tools </a:t>
            </a:r>
            <a:r>
              <a:rPr lang="en-US" b="0" i="0" dirty="0">
                <a:solidFill>
                  <a:srgbClr val="CDCDCD"/>
                </a:solidFill>
                <a:effectLst/>
                <a:latin typeface="Google Sans"/>
              </a:rPr>
              <a:t>🔥</a:t>
            </a:r>
            <a:endParaRPr lang="en-US" dirty="0"/>
          </a:p>
          <a:p>
            <a:r>
              <a:rPr lang="en-US" dirty="0"/>
              <a:t>If item exists on O*NET</a:t>
            </a:r>
          </a:p>
          <a:p>
            <a:pPr lvl="1"/>
            <a:r>
              <a:rPr lang="en-US" dirty="0"/>
              <a:t>5</a:t>
            </a:r>
          </a:p>
          <a:p>
            <a:r>
              <a:rPr lang="en-US" dirty="0"/>
              <a:t>If item does not exist on O*NET</a:t>
            </a:r>
          </a:p>
          <a:p>
            <a:pPr lvl="1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4119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DFDF-98F3-511E-FF3D-B828C8BE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9D6F9-1233-4DC6-05FC-B4546808E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Question 1-5</a:t>
            </a:r>
          </a:p>
          <a:p>
            <a:pPr lvl="1"/>
            <a:r>
              <a:rPr lang="en-US" dirty="0"/>
              <a:t>Same SJT questions format for all jobs</a:t>
            </a:r>
          </a:p>
          <a:p>
            <a:pPr marL="457200" lvl="1" indent="0">
              <a:buNone/>
            </a:pP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Use same generic answer for all jobs</a:t>
            </a:r>
          </a:p>
          <a:p>
            <a:pPr marL="457200" lvl="1" indent="0">
              <a:buNone/>
            </a:pP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Ask LLM (Phi-4-unsloth) to answer as general as possible in one sentence</a:t>
            </a:r>
          </a:p>
          <a:p>
            <a:pPr lvl="1"/>
            <a:r>
              <a:rPr lang="en-US" dirty="0"/>
              <a:t>No context</a:t>
            </a:r>
          </a:p>
          <a:p>
            <a:r>
              <a:rPr lang="en-US" dirty="0"/>
              <a:t>Question 6-9</a:t>
            </a:r>
          </a:p>
          <a:p>
            <a:pPr lvl="1"/>
            <a:r>
              <a:rPr lang="en-US" dirty="0"/>
              <a:t>Behavioral questions</a:t>
            </a:r>
          </a:p>
          <a:p>
            <a:pPr lvl="1"/>
            <a:r>
              <a:rPr lang="en-US" dirty="0"/>
              <a:t>Ask LLM (Phi-4-unsloth) to answer the question in one sentence</a:t>
            </a:r>
          </a:p>
          <a:p>
            <a:pPr lvl="1"/>
            <a:r>
              <a:rPr lang="en-US" dirty="0"/>
              <a:t>No context</a:t>
            </a:r>
          </a:p>
        </p:txBody>
      </p:sp>
    </p:spTree>
    <p:extLst>
      <p:ext uri="{BB962C8B-B14F-4D97-AF65-F5344CB8AC3E}">
        <p14:creationId xmlns:p14="http://schemas.microsoft.com/office/powerpoint/2010/main" val="3183804956"/>
      </p:ext>
    </p:extLst>
  </p:cSld>
  <p:clrMapOvr>
    <a:masterClrMapping/>
  </p:clrMapOvr>
</p:sld>
</file>

<file path=ppt/theme/theme1.xml><?xml version="1.0" encoding="utf-8"?>
<a:theme xmlns:a="http://schemas.openxmlformats.org/drawingml/2006/main" name="Amazon Theme">
  <a:themeElements>
    <a:clrScheme name="Amazon">
      <a:dk1>
        <a:srgbClr val="161D26"/>
      </a:dk1>
      <a:lt1>
        <a:srgbClr val="FFFFFF"/>
      </a:lt1>
      <a:dk2>
        <a:srgbClr val="33455A"/>
      </a:dk2>
      <a:lt2>
        <a:srgbClr val="F5F3EF"/>
      </a:lt2>
      <a:accent1>
        <a:srgbClr val="FF6300"/>
      </a:accent1>
      <a:accent2>
        <a:srgbClr val="FE9800"/>
      </a:accent2>
      <a:accent3>
        <a:srgbClr val="698CD0"/>
      </a:accent3>
      <a:accent4>
        <a:srgbClr val="FED10D"/>
      </a:accent4>
      <a:accent5>
        <a:srgbClr val="FFB08A"/>
      </a:accent5>
      <a:accent6>
        <a:srgbClr val="FFE1CC"/>
      </a:accent6>
      <a:hlink>
        <a:srgbClr val="D5F0D7"/>
      </a:hlink>
      <a:folHlink>
        <a:srgbClr val="FBE3F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azon Theme" id="{C50F13D0-7B10-8A4F-8299-FBECCEDC1221}" vid="{3F394472-FF26-5A40-B9A9-EEE7FA7585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Amazon Theme</Template>
  <TotalTime>707</TotalTime>
  <Words>496</Words>
  <Application>Microsoft Macintosh PowerPoint</Application>
  <PresentationFormat>Widescreen</PresentationFormat>
  <Paragraphs>94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Google Sans</vt:lpstr>
      <vt:lpstr>system-ui</vt:lpstr>
      <vt:lpstr>Arial</vt:lpstr>
      <vt:lpstr>Calibri</vt:lpstr>
      <vt:lpstr>Helvetica</vt:lpstr>
      <vt:lpstr>Verdana</vt:lpstr>
      <vt:lpstr>Wingdings</vt:lpstr>
      <vt:lpstr>Amazon Theme</vt:lpstr>
      <vt:lpstr>SIOP ML Competition 2025</vt:lpstr>
      <vt:lpstr>Team Members</vt:lpstr>
      <vt:lpstr>Cognitive Ability A</vt:lpstr>
      <vt:lpstr>PowerPoint Presentation</vt:lpstr>
      <vt:lpstr>Cognitive Ability B</vt:lpstr>
      <vt:lpstr>Cognitive Ability B (GenAI Version)</vt:lpstr>
      <vt:lpstr>Cognitive Ability C</vt:lpstr>
      <vt:lpstr>Cognitive Ability C (GenAI Version)</vt:lpstr>
      <vt:lpstr>Personality Likert</vt:lpstr>
      <vt:lpstr>Personality Choice</vt:lpstr>
      <vt:lpstr>Job Readiness</vt:lpstr>
      <vt:lpstr>Interview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Egyn Zhu</dc:creator>
  <cp:lastModifiedBy>Egyn Zhu</cp:lastModifiedBy>
  <cp:revision>2</cp:revision>
  <dcterms:created xsi:type="dcterms:W3CDTF">2025-04-02T16:58:39Z</dcterms:created>
  <dcterms:modified xsi:type="dcterms:W3CDTF">2025-04-03T04:46:16Z</dcterms:modified>
</cp:coreProperties>
</file>